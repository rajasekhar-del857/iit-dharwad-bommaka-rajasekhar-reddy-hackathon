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2CC4D2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SentinelRisk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98755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0">
                <a:solidFill>
                  <a:srgbClr val="CDDCEF"/>
                </a:solidFill>
                <a:latin typeface="Aptos"/>
              </a:defRPr>
            </a:pPr>
            <a:r>
              <a:t>Explainable financial-event intelligence and portfolio risk 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474720"/>
            <a:ext cx="10424160" cy="32004"/>
          </a:xfrm>
          <a:prstGeom prst="rect">
            <a:avLst/>
          </a:prstGeom>
          <a:solidFill>
            <a:srgbClr val="2CC4D2"/>
          </a:solidFill>
          <a:ln>
            <a:solidFill>
              <a:srgbClr val="2C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9875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Candidate: Bommaka Rajasekhar Reddy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CDDCEF"/>
                </a:solidFill>
                <a:latin typeface="Aptos"/>
              </a:defRPr>
            </a:pPr>
            <a:r>
              <a:t>IIT Dharwad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97840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A prototype that turns unstructured text into traceable risk signals and illustrative portfolio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B4C3D6"/>
                </a:solidFill>
                <a:latin typeface="Aptos"/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266BC8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0D1B30"/>
                </a:solidFill>
                <a:latin typeface="Aptos"/>
              </a:defRPr>
            </a:pPr>
            <a:r>
              <a:t>The problem &amp; 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07084"/>
                </a:solidFill>
                <a:latin typeface="Aptos"/>
              </a:defRPr>
            </a:pPr>
            <a:r>
              <a:t>From fast-moving text to structured, decision-support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0972800" cy="22860"/>
          </a:xfrm>
          <a:prstGeom prst="rect">
            <a:avLst/>
          </a:prstGeom>
          <a:solidFill>
            <a:srgbClr val="2C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07084"/>
                </a:solidFill>
                <a:latin typeface="Aptos"/>
              </a:defRPr>
            </a:pPr>
            <a:r>
              <a:t>2/7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6858000" cy="448056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Financial news and social-style text arrive in different formats and can be difficult to compare quickly.</a:t>
            </a:r>
          </a:p>
          <a:p>
            <a:pPr>
              <a:spcAft>
                <a:spcPts val="13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A headline alone does not show which event category matters, how severe it may be, or which exposures could be affected.</a:t>
            </a:r>
          </a:p>
          <a:p>
            <a:pPr>
              <a:spcAft>
                <a:spcPts val="13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SentinelRisk normalizes and deduplicates text, scores sentiment, classifies the event, and produces an explainable impact score (1–10).</a:t>
            </a:r>
          </a:p>
          <a:p>
            <a:pPr>
              <a:spcAft>
                <a:spcPts val="13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The same signal feeds two downstream demonstrations: portfolio stress testing and index rebalancing.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017520" cy="3520440"/>
          </a:xfrm>
          <a:prstGeom prst="roundRect">
            <a:avLst/>
          </a:prstGeom>
          <a:solidFill>
            <a:srgbClr val="0D1B30"/>
          </a:solidFill>
          <a:ln>
            <a:solidFill>
              <a:srgbClr val="0D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2CC4D2"/>
                </a:solidFill>
                <a:latin typeface="Aptos"/>
              </a:defRPr>
            </a:pPr>
            <a:r>
              <a:t>UNSTRUCTURED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43200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News • posts • headlines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3611880"/>
            <a:ext cx="0" cy="411480"/>
          </a:xfrm>
          <a:prstGeom prst="line">
            <a:avLst/>
          </a:prstGeom>
          <a:ln w="25400">
            <a:solidFill>
              <a:srgbClr val="2C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21040" y="4096512"/>
            <a:ext cx="2468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2CC4D2"/>
                </a:solidFill>
                <a:latin typeface="Aptos"/>
              </a:defRPr>
            </a:pPr>
            <a:r>
              <a:t>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53712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Sentiment • event •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266BC8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0D1B30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07084"/>
                </a:solidFill>
                <a:latin typeface="Aptos"/>
              </a:defRPr>
            </a:pPr>
            <a:r>
              <a:t>One signal pipeline, two downstream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0972800" cy="22860"/>
          </a:xfrm>
          <a:prstGeom prst="rect">
            <a:avLst/>
          </a:prstGeom>
          <a:solidFill>
            <a:srgbClr val="2C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07084"/>
                </a:solidFill>
                <a:latin typeface="Aptos"/>
              </a:defRPr>
            </a:pPr>
            <a:r>
              <a:t>3/7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3840480" cy="438912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Inputs: public RSS feeds (optional), bundled synthetic CSVs, and manual text.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Pipeline: normalize → deduplicate → sentiment → event classification → explainable impact score.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Serving and storage: FastAPI, SQLite, and a Streamlit dashboard.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Outputs: risk signals, portfolio stress-test results, bounded index weights, and CSV/JSON exports.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828800"/>
            <a:ext cx="1828800" cy="64008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RSS / CSV /</a:t>
            </a:r>
            <a:br/>
            <a:r>
              <a:t>Manual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1828800" cy="64008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Normalize +</a:t>
            </a:r>
            <a:br/>
            <a:r>
              <a:t>deduplicate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828800"/>
            <a:ext cx="1737360" cy="64008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Sentiment +</a:t>
            </a:r>
            <a:br/>
            <a:r>
              <a:t>event class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0" y="2148840"/>
            <a:ext cx="640080" cy="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2148840"/>
            <a:ext cx="594360" cy="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0" y="2971800"/>
            <a:ext cx="1828800" cy="640080"/>
          </a:xfrm>
          <a:prstGeom prst="roundRect">
            <a:avLst/>
          </a:prstGeom>
          <a:solidFill>
            <a:srgbClr val="DBF6F8"/>
          </a:solidFill>
          <a:ln>
            <a:solidFill>
              <a:srgbClr val="DB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Impact score</a:t>
            </a:r>
            <a:br/>
            <a:r>
              <a:t>(1–10)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29600" y="2468880"/>
            <a:ext cx="2377440" cy="50292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0" y="4069080"/>
            <a:ext cx="1828800" cy="64008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FastAPI + SQLite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3611880"/>
            <a:ext cx="0" cy="45720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46320" y="5257800"/>
            <a:ext cx="2377440" cy="685800"/>
          </a:xfrm>
          <a:prstGeom prst="roundRect">
            <a:avLst/>
          </a:prstGeom>
          <a:solidFill>
            <a:srgbClr val="E1F1FF"/>
          </a:solidFill>
          <a:ln>
            <a:solidFill>
              <a:srgbClr val="E1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Portfolio stress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5257800"/>
            <a:ext cx="2377440" cy="685800"/>
          </a:xfrm>
          <a:prstGeom prst="roundRect">
            <a:avLst/>
          </a:prstGeom>
          <a:solidFill>
            <a:srgbClr val="E1F1FF"/>
          </a:solidFill>
          <a:ln>
            <a:solidFill>
              <a:srgbClr val="E1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Index rebalancer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5257800"/>
            <a:ext cx="1371600" cy="685800"/>
          </a:xfrm>
          <a:prstGeom prst="roundRect">
            <a:avLst/>
          </a:prstGeom>
          <a:solidFill>
            <a:srgbClr val="E1F1FF"/>
          </a:solidFill>
          <a:ln>
            <a:solidFill>
              <a:srgbClr val="E1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0"/>
                </a:solidFill>
                <a:latin typeface="Aptos"/>
              </a:defRPr>
            </a:pPr>
            <a:r>
              <a:t>Dashboard /</a:t>
            </a:r>
            <a:br/>
            <a:r>
              <a:t>exports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35040" y="4709160"/>
            <a:ext cx="2194560" cy="54864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4709160"/>
            <a:ext cx="548640" cy="54864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4709160"/>
            <a:ext cx="2560320" cy="54864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266BC8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0D1B30"/>
                </a:solidFill>
                <a:latin typeface="Aptos"/>
              </a:defRPr>
            </a:pPr>
            <a: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07084"/>
                </a:solidFill>
                <a:latin typeface="Aptos"/>
              </a:defRPr>
            </a:pPr>
            <a:r>
              <a:t>Built to be reproducible, inspectable, and easy to demonstrate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0972800" cy="22860"/>
          </a:xfrm>
          <a:prstGeom prst="rect">
            <a:avLst/>
          </a:prstGeom>
          <a:solidFill>
            <a:srgbClr val="2C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07084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6858000" cy="448056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Python, pandas, NumPy, Pydantic, FastAPI, Streamlit, Plotly, and SQLite.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Hybrid NLP design: transparent offline sentiment baseline by default; optional FinBERT sentiment mode.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Event taxonomy includes geopolitical, macroeconomic, credit, M&amp;A, regulatory/legal, earnings/business, and other.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Signals preserve source/provenance fields; API endpoints support analysis, retrieval, and stress testing.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The offline demo runs without API keys or a pretrained-model download.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017520" cy="356616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468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266BC8"/>
                </a:solidFill>
                <a:latin typeface="Aptos"/>
              </a:defRPr>
            </a:pPr>
            <a:r>
              <a:t>DESIGN PRINCIPLES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697480"/>
            <a:ext cx="237744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Offline-first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264408"/>
            <a:ext cx="237744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Explainable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831336"/>
            <a:ext cx="237744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API +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398264"/>
            <a:ext cx="237744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Reproducible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266BC8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0D1B30"/>
                </a:solidFill>
                <a:latin typeface="Aptos"/>
              </a:defRPr>
            </a:pPr>
            <a:r>
              <a:t>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07084"/>
                </a:solidFill>
                <a:latin typeface="Aptos"/>
              </a:defRPr>
            </a:pPr>
            <a:r>
              <a:t>Reproducible prototype checks on bundled synthetic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0972800" cy="22860"/>
          </a:xfrm>
          <a:prstGeom prst="rect">
            <a:avLst/>
          </a:prstGeom>
          <a:solidFill>
            <a:srgbClr val="2C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07084"/>
                </a:solidFill>
                <a:latin typeface="Aptos"/>
              </a:defRPr>
            </a:pPr>
            <a:r>
              <a:t>5/7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852160" cy="438912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18 unique risk signals generated in the demo run.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Highest-impact event in that run: geopolitical, impact score 7/10.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Illustrative synthetic portfolio value: 100.00 → 91.09 under the configured scenario.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Rebalanced index weights sum to 1.000000.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11 automated tests passed in the previously verified project build; evaluation labels are small and synthetic.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74519"/>
            <a:ext cx="20116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3448" y="2103120"/>
            <a:ext cx="1792224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266BC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715768"/>
            <a:ext cx="179222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>
                <a:solidFill>
                  <a:srgbClr val="263345"/>
                </a:solidFill>
                <a:latin typeface="Aptos"/>
              </a:defRPr>
            </a:pPr>
            <a:r>
              <a:t>unique risk</a:t>
            </a:r>
            <a:br/>
            <a:r>
              <a:t>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874519"/>
            <a:ext cx="20116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2103120"/>
            <a:ext cx="1792224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1D9770"/>
                </a:solidFill>
                <a:latin typeface="Aptos"/>
              </a:defRPr>
            </a:pPr>
            <a:r>
              <a:t>7/10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2715768"/>
            <a:ext cx="179222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>
                <a:solidFill>
                  <a:srgbClr val="263345"/>
                </a:solidFill>
                <a:latin typeface="Aptos"/>
              </a:defRPr>
            </a:pPr>
            <a:r>
              <a:t>top event impact</a:t>
            </a:r>
            <a:br/>
            <a:r>
              <a:t>(geopolitical)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886200"/>
            <a:ext cx="20116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4114800"/>
            <a:ext cx="1792224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E6A12D"/>
                </a:solidFill>
                <a:latin typeface="Aptos"/>
              </a:defRPr>
            </a:pPr>
            <a:r>
              <a:t>100 → 91.09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4727448"/>
            <a:ext cx="179222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>
                <a:solidFill>
                  <a:srgbClr val="263345"/>
                </a:solidFill>
                <a:latin typeface="Aptos"/>
              </a:defRPr>
            </a:pPr>
            <a:r>
              <a:t>illustrative portfolio</a:t>
            </a:r>
            <a:br/>
            <a:r>
              <a:t>value after scenario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886200"/>
            <a:ext cx="20116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4114800"/>
            <a:ext cx="1792224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266BC8"/>
                </a:solidFill>
                <a:latin typeface="Aptos"/>
              </a:defRPr>
            </a:pPr>
            <a:r>
              <a:t>1.000000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4727448"/>
            <a:ext cx="179222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>
                <a:solidFill>
                  <a:srgbClr val="263345"/>
                </a:solidFill>
                <a:latin typeface="Aptos"/>
              </a:defRPr>
            </a:pPr>
            <a:r>
              <a:t>sum of rebalanced</a:t>
            </a:r>
            <a:br/>
            <a:r>
              <a:t>index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99632"/>
            <a:ext cx="1060704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607084"/>
                </a:solidFill>
                <a:latin typeface="Aptos"/>
              </a:defRPr>
            </a:pPr>
            <a:r>
              <a:t>Prototype results use synthetic data; not calibrated real-world forecasts or investment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266BC8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0D1B30"/>
                </a:solidFill>
                <a:latin typeface="Aptos"/>
              </a:defRPr>
            </a:pPr>
            <a:r>
              <a:t>Domain impact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07084"/>
                </a:solidFill>
                <a:latin typeface="Aptos"/>
              </a:defRPr>
            </a:pPr>
            <a:r>
              <a:t>A decision-support prototype—not an investment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0972800" cy="22860"/>
          </a:xfrm>
          <a:prstGeom prst="rect">
            <a:avLst/>
          </a:prstGeom>
          <a:solidFill>
            <a:srgbClr val="2C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07084"/>
                </a:solidFill>
                <a:latin typeface="Aptos"/>
              </a:defRPr>
            </a:pPr>
            <a:r>
              <a:t>6/7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6858000" cy="448056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Potential value: help analysts triage event streams and trace an event to hypothetical exposure impacts.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Stress testing makes assumptions visible; rebalancing enforces configured weight bounds and a 100% total.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Data: all bundled headlines, posts, portfolio holdings, index constituents, and labelled evaluation examples are synthetic.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Limitations: keyword-based baseline can miss context/negation; scenario shocks are illustrative, not calibrated forecasts.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Not modelled fully: liquidity, default/recovery, convexity, options Greeks, or correlated market dynamics.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828800"/>
            <a:ext cx="3108960" cy="3474720"/>
          </a:xfrm>
          <a:prstGeom prst="round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26517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266BC8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788920"/>
            <a:ext cx="2468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1B30"/>
                </a:solidFill>
                <a:latin typeface="Aptos"/>
              </a:defRPr>
            </a:pPr>
            <a:r>
              <a:t>Event signal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3383280"/>
            <a:ext cx="0" cy="32004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21040" y="3703320"/>
            <a:ext cx="2468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Hypothetical exposure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55480" y="4297680"/>
            <a:ext cx="0" cy="320040"/>
          </a:xfrm>
          <a:prstGeom prst="line">
            <a:avLst/>
          </a:prstGeom>
          <a:ln w="25400">
            <a:solidFill>
              <a:srgbClr val="266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4617720"/>
            <a:ext cx="2468880" cy="411480"/>
          </a:xfrm>
          <a:prstGeom prst="roundRect">
            <a:avLst/>
          </a:prstGeom>
          <a:solidFill>
            <a:srgbClr val="DBF6F8"/>
          </a:solidFill>
          <a:ln>
            <a:solidFill>
              <a:srgbClr val="DB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30"/>
                </a:solidFill>
                <a:latin typeface="Aptos"/>
              </a:defRPr>
            </a:pPr>
            <a:r>
              <a:t>Analyst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99632"/>
            <a:ext cx="1060704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607084"/>
                </a:solidFill>
                <a:latin typeface="Aptos"/>
              </a:defRPr>
            </a:pPr>
            <a:r>
              <a:t>Prototype results use synthetic data; not calibrated real-world forecasts or investment advice.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266BC8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0D1B30"/>
                </a:solidFill>
                <a:latin typeface="Aptos"/>
              </a:defRPr>
            </a:pPr>
            <a:r>
              <a:t>Demo, next steps &amp;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07084"/>
                </a:solidFill>
                <a:latin typeface="Aptos"/>
              </a:defRPr>
            </a:pPr>
            <a:r>
              <a:t>A clear path from prototype to stronger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0972800" cy="22860"/>
          </a:xfrm>
          <a:prstGeom prst="rect">
            <a:avLst/>
          </a:prstGeom>
          <a:solidFill>
            <a:srgbClr val="2C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07084"/>
                </a:solidFill>
                <a:latin typeface="Aptos"/>
              </a:defRPr>
            </a:pPr>
            <a:r>
              <a:t>7/7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6675120" cy="438912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Live demo: run the offline pipeline, inspect a signal, execute a stress scenario, and view rebalanced weights.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Next: evaluate on a larger independently labelled public dataset; calibrate impact scores and scenario assumptions.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Next: improve entity linking, contextual NLP, monitoring, and deployment security.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Repository: public GitHub, README quickstart, /src, /data, /docs/presentation.pdf, and architecture diagram.</a:t>
            </a:r>
          </a:p>
          <a:p>
            <a:pPr>
              <a:spcAft>
                <a:spcPts val="13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Thank you — questions?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011680"/>
            <a:ext cx="3200400" cy="3017520"/>
          </a:xfrm>
          <a:prstGeom prst="roundRect">
            <a:avLst/>
          </a:prstGeom>
          <a:solidFill>
            <a:srgbClr val="0D1B30"/>
          </a:solidFill>
          <a:ln>
            <a:solidFill>
              <a:srgbClr val="0D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51460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37560"/>
            <a:ext cx="26517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0">
                <a:solidFill>
                  <a:srgbClr val="CDDCE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34340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2CC4D2"/>
                </a:solidFill>
                <a:latin typeface="Aptos"/>
              </a:defRPr>
            </a:pPr>
            <a:r>
              <a:t>SentinelRisk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